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6551F"/>
                </a:solidFill>
                <a:latin typeface="Calibri"/>
              </a:rPr>
              <a:t>AMR Research Course  ·  Closing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6017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Design and Validation of a Wearable Ankle Rehabilitation Robot with an Anatomically Aligned 3-RRR Spherical Parallel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114601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E2A47"/>
                </a:solidFill>
                <a:latin typeface="Calibri"/>
              </a:rPr>
              <a:t>Yufei Zhang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Department of Mechanical Engineering, Columbia University in the City of New York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Advisor:  Prof. Sunil K. Agrawal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Email:  yz4917@columbia.edu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21208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Source code (MIT, open-source):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532120"/>
            <a:ext cx="114601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onsolas"/>
              </a:rPr>
              <a:t>github.com/YufeiZhang0601/wearable-3rrr-ankle-rehab</a:t>
            </a:r>
          </a:p>
        </p:txBody>
      </p:sp>
      <p:pic>
        <p:nvPicPr>
          <p:cNvPr id="12" name="Picture 11" descr="cad_l1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2651760"/>
            <a:ext cx="2926080" cy="2260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How the next 18 minutes are structured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6017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1.  Motivation: clinical need &amp; gap in the state of the art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2.  Mechanism: anatomically aligned 3-RRR SPM, wearable form factor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3.  Kinematics: closed-form &amp; numerical inverse kinematics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4.  Dynamics &amp; baseline PID; proposed Assist-As-Needed control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5.  Embedded system &amp; hardware integration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6.  Open-source ROS 2 / Gazebo design-and-validation pipeline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7.  Closed-loop tracking demo (recorded video)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8.  Planned experiments &amp; implementation status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9.  Conclusion &amp; 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Motivation: Clinical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Why a robotic, dose-controlled ankle rehab device?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669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Ankle injuries (sprains, fractures, post-op) and neurological deficits (stroke, foot-drop) are very common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Standard of care is therapist-driven manual mobilization (talocrural, subtalar, tibiofibular joints)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Highly dependent on clinician experience; little quantitative dosing or trajectory tracking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Robotic platforms can provide repeatability, dose control, and objective outcome metrics  →  this work</a:t>
            </a:r>
          </a:p>
        </p:txBody>
      </p:sp>
      <p:pic>
        <p:nvPicPr>
          <p:cNvPr id="8" name="Picture 7" descr="manual_thera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45674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35040"/>
            <a:ext cx="53949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Clinical reference: manual ankle mobilization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State of the Art &amp; the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Wearable exoskeletons vs. platform-style ankle rehab robots</a:t>
            </a:r>
          </a:p>
        </p:txBody>
      </p:sp>
      <p:pic>
        <p:nvPicPr>
          <p:cNvPr id="7" name="Picture 6" descr="lit_exoskele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57106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657600"/>
            <a:ext cx="56692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(a) Wearable exoskeletons – portable, often 1–2 DOF</a:t>
            </a:r>
          </a:p>
        </p:txBody>
      </p:sp>
      <p:pic>
        <p:nvPicPr>
          <p:cNvPr id="9" name="Picture 8" descr="lit_platfo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23360"/>
            <a:ext cx="5669280" cy="5711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56692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(b) Platform robots – multi-DOF, but stationary &amp; non-anthropomorphic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425135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Existing wearable devices: only 1–2 DOF, miss inversion / yaw motion of the ankle complex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Existing platform robots: full 3–6 DOF, but stationary, and their center of rotation does NOT coincide with the talocrural joint  →  parasitic shear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This work: target the gap — a wearable mechanism whose remote center of rotation is anatomically aligned with the human ankle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Biomechanical Motivation → 3-RRR SPM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Anatomy of the talocrural / subtalar complex matches a spherical mechanism</a:t>
            </a:r>
          </a:p>
        </p:txBody>
      </p:sp>
      <p:pic>
        <p:nvPicPr>
          <p:cNvPr id="7" name="Picture 6" descr="ankle_anatomy_3r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772400" cy="3605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280160"/>
            <a:ext cx="341345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Ankle: 3 rotation axes converge near a single anatomical point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3-RRR SPM: 9 revolute joints whose axes intersect at one common spherical center O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Three pure rotations ≡ dorsi/plantarflexion, inversion/eversion, internal/external rotation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Aligning O with the talocrural complex eliminates parasitic translation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Mechanism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Wearable embodiment with annotated link lengths L₁ (proximal) and L₂ (distal)</a:t>
            </a:r>
          </a:p>
        </p:txBody>
      </p:sp>
      <p:pic>
        <p:nvPicPr>
          <p:cNvPr id="7" name="Picture 6" descr="cad_l1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120640" cy="39556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035040"/>
            <a:ext cx="51206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CAD render with link annotation L₁ / L₂</a:t>
            </a:r>
          </a:p>
        </p:txBody>
      </p:sp>
      <p:pic>
        <p:nvPicPr>
          <p:cNvPr id="9" name="Picture 8" descr="prototype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3291840" cy="45468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603504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3D-printed prototype (assembled)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280160"/>
            <a:ext cx="222473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Three identical RRR limbs at 120°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Open-back base ring + adjustable shank cuff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Foot plate as moving end-effector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3D-printed for design iteration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All actuator axes intersect at the ankle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CAD Multi-View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Three views of the wearable form factor</a:t>
            </a:r>
          </a:p>
        </p:txBody>
      </p:sp>
      <p:pic>
        <p:nvPicPr>
          <p:cNvPr id="7" name="Picture 6" descr="cad_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3657600" cy="28261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48640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(a) Front</a:t>
            </a:r>
          </a:p>
        </p:txBody>
      </p:sp>
      <p:pic>
        <p:nvPicPr>
          <p:cNvPr id="9" name="Picture 8" descr="cad_perspecti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657600" cy="2826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548640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(b) Perspective</a:t>
            </a:r>
          </a:p>
        </p:txBody>
      </p:sp>
      <p:pic>
        <p:nvPicPr>
          <p:cNvPr id="11" name="Picture 10" descr="cad_t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463040"/>
            <a:ext cx="3657600" cy="28261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548640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(c) 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Singularity-Aware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Link ratio ρ = L₂ / L₁ controls the rotational-Jacobian conditioning</a:t>
            </a:r>
          </a:p>
        </p:txBody>
      </p:sp>
      <p:pic>
        <p:nvPicPr>
          <p:cNvPr id="7" name="Picture 6" descr="workspac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852160" cy="39711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852160"/>
            <a:ext cx="58521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Per-leg reachable circles → their intersection is the singularity-free common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242255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Type-2 singularity: det(A) → 0 → platform loses stiffness → unsafe under patient load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Following Saheb … (2021) and Wu &amp; Bai (2019), pick ρ ≈ 1.15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Result: + ~20 % global isotropy index of Jᵣ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Result: singular curves pushed to the workspace boundary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→ stiffness preserved across the clinical 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Inverse Kinematics  (Algorithm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Closed-form derivation → numerical bisection for real-time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Closed-form (per leg):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6692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Bᵢ = Aᵢ + η (Cᵢ − Aᵢ) + ξ ‧ ((Cᵢ − Aᵢ) × N) / |·|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θᵢ = arccos( (Bᵢ − Aᵢ) · uᵢ / |Bᵢ − Aᵢ| 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Used for offline workspace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Numerical (real-time, used in code):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09160"/>
            <a:ext cx="56692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Each leg: scalar residual fᵢ(qᵢ) = |Pᵢ − Aᵢ(qᵢ)| − Lᵢ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Coarse bracket → bisection → root-continuity rule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Dependency-free, runs in ROS 2 and on host laptop alike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5425135" cy="5120640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50593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Algorithm 1  per-cycle parallel 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9679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input  : (roll, pitch, yaw), prior q⁻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output : motor angles q = (q₁, q₂, q₃)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Rₐₑ ← Rₘ(yaw) Rᵧ(pitch) Rₓ(roll)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for each leg i in {1,2,3}: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    Pᵢ ← Rₐₑ · Pᵢᶠ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    fᵢ(q) ← |Pᵢ − Aᵢ(q)| − Lᵢ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    bracket  ← grid containing q⁻ᵢ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    qᵢ  ← bisect(fᵢ, bracket)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return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Dynamics &amp; Baseline PID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Stiff vs. compliant tuning brackets the AAN operating range</a:t>
            </a:r>
          </a:p>
        </p:txBody>
      </p:sp>
      <p:pic>
        <p:nvPicPr>
          <p:cNvPr id="7" name="Picture 6" descr="underdamped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486400" cy="4842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65760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Underdamped: Kp = 20, Kd = 0.5, Ki = 1  →  soft, oscillatory</a:t>
            </a:r>
          </a:p>
        </p:txBody>
      </p:sp>
      <p:pic>
        <p:nvPicPr>
          <p:cNvPr id="9" name="Picture 8" descr="critic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486400" cy="48883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365760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Critically damped: Kp = 50, Kd = 2, Ki = 5  →  stiff, monotonic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60175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Three independent PID loops on the actuator angles θᵢ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Even on a rigid SPM, feedback gains modulate effective compliance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These two regimes bracket the spectrum that the AAN controller interpolates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Assist-As-Needed Control  (proposed)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Patient-torque estimation from motor current, no distal F/T sensor required</a:t>
            </a:r>
          </a:p>
        </p:txBody>
      </p:sp>
      <p:pic>
        <p:nvPicPr>
          <p:cNvPr id="7" name="Picture 6" descr="aa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315200" cy="40056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120640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AAN architecture (top: gait-phase + asymmetry; bottom: low-level force tracking)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280160"/>
            <a:ext cx="396209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Estimator:  τ_ext ≈ K_t · I_m − τ_model(q, q̇, q̈_ref)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Assist law:  τ_assist = k_aan(t,e) · [τ_ref − τ_ext]₊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Adaptive gain k_aan grows with tracking error, decays with successful tracking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Removes need for distal load cell; uses Dynamixel current feedback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Listed as a planned/proposed contribution — not yet deployed on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Embedded System &amp;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Teensy 4.1 master · RS-485 bus · dual IMU · instrumented gait mat</a:t>
            </a:r>
          </a:p>
        </p:txBody>
      </p:sp>
      <p:pic>
        <p:nvPicPr>
          <p:cNvPr id="7" name="Picture 6" descr="electronics_bread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023360" cy="536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349240"/>
            <a:ext cx="40233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Prototype electronics stack: Teensy 4.1 + IMU + RS-485 transceiver</a:t>
            </a:r>
          </a:p>
        </p:txBody>
      </p:sp>
      <p:pic>
        <p:nvPicPr>
          <p:cNvPr id="9" name="Picture 8" descr="hardware_wiring_dia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02336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5349240"/>
            <a:ext cx="40233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Servo control wiring: Dynamixel + U2D2 + power supply + 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280160"/>
            <a:ext cx="304769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1 kHz control loop on Teensy 4.1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RS-485 daisy chain: 3 × XM430-W350-R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Position-control mode + current telemetry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Encoder resolution 0.088° / tick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Dual IMU (shank + foot) for absolute reference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Gait mat for stance time, plantar pressure, CoP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Open-Source ROS 2 / Gazebo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From CAD to closed-loop simulation in three lines</a:t>
            </a:r>
          </a:p>
        </p:txBody>
      </p:sp>
      <p:pic>
        <p:nvPicPr>
          <p:cNvPr id="7" name="Picture 6" descr="gazebo_force_tor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766560" cy="4671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486400"/>
            <a:ext cx="6766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Gazebo URDF smoke test: 101 Nm pure torque applied to the proximal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451073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Repository (MIT licensed):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91640"/>
            <a:ext cx="451073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E2A47"/>
                </a:solidFill>
                <a:latin typeface="Consolas"/>
              </a:rPr>
              <a:t>github.com/YufeiZhang0601/wearable-3rrr-ankle-rehab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86000"/>
            <a:ext cx="451073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ROS 2 ament_python package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URDF + Xacro, 22 STL meshes, 4 launch files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Parallel-IK solver — one shared kinematic core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Gazebo verification: sweep force/torque grid → no NaN inertias, no mesh interpenetration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Dependency-free closed-loop demo (Python stdlib only)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JSON parameter templates → swap hardware without touching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Closed-Loop Tracking Demo  (Algorithm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Reproduces the IK + safety supervisor against the URDF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6949440" cy="4937760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583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Algorithm 2  closed-loop ankle-rehab tracking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parse URDF; pick (j₁, j₄, j₆) as the three Dynamixel actuators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q ← 0;  t ← 0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while running: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σ(t)  ← min(t / Tsoft, 1)            # soft start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pitch ← σ(t) · A_p sin(2π f t)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roll  ← σ(t) · A_r sin(2π f t)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q_ref ← ParallelIK(roll, pitch, 0)        # Algo 1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Δq    ← clamp(q_ref − q,  q̇_max · Δt)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τ    ← clamp(controller(Δq),  τ_max)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q     ← q + Δq                     # virtual actuator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log(t, q_ref, q, τ, ToTicks(q))           # CSV row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t     ← t + Δt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63040"/>
            <a:ext cx="4144975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Reference: ± 12° dorsi/plantar, ± 6° invert/evert, 0.05 Hz, 3 s ramp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Safety caps: τ ≤ 1.2 Nm,  q̇ ≤ 0.8 rad/s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Logs commanded vs. measured q, residual error, Dynamixel ticks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Recorded video shipped in the repo: media/closed_loop_demo.mp4 (≈25 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Planned 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Quantitative metrics + simulated foot-drop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Quantitative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486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Limb Symmetry Index (LSI) — north-star clinical metric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Jerk = d³x/dt³ from foot-plate IMU (smoothness)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Interaction torque τ_int (sensorless estimator, eq. 16)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Center of pressure (CoP) trajectory from gait mat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Human-contribution ratio  η_h = τ_ext / (τ_ext + τ_assist)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Four sub-experiments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52120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E1  Simulated-impairment recovery (controlled foot-drop)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E2  Transparency evaluation (R² ≥ 0.95 vs. barefoot)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E3  Active participation under AAN (η_h trend over sessions)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E4  Passive transfer effect after CPM 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7200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983480"/>
            <a:ext cx="11460175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Within-subject paired t-tests (or Wilcoxon if non-normal); Bonferroni-Holm correction at the experiment level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Across-session trends: linear mixed-effects model with subject as a random effect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Bootstrap 95 % CIs (n = 10 000)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Implementation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5 of 6 goals delivered; hardware integration in progress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6017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1828800"/>
                <a:gridCol w="3596335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Wearable 3-RRR mechanism, link ratio ρ≈ 1.15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+ ~20 % isotropy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Closed-form &amp; numerical inverse kinematics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Algorithm 1, in repo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Joint-to-actuator mapping (θᵢ → XM430 ticks)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Sec. VII / Sec. 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Open-source ROS 2 / Gazebo pipeline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MIT-licensed release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Embedded system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Teensy 4.1 + RS-485 + dual IMU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AAN control formulation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55C66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Eq. (16) – (18)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Hardware integration &amp; subject experiments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6551F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next 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What was delivered, what comes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11460175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A wearable 3-RRR SPM ankle rehabilitation robot whose remote center of rotation is anatomically aligned with the talocrural complex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Closed-form + numerical inverse kinematics that maps (roll, pitch, yaw) to motor angles in real time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An MIT-licensed ROS 2 / Gazebo design-and-validation pipeline that any group can clone, build, and extend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2336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34840"/>
            <a:ext cx="1146017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Modeling: dual-axis non-concentric ankle model; integrate Lagrangian dynamics into a feedforward layer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Control &amp; software: instantiate the AAN gain schedule on the real Dynamixel bus; add gait-phase switching and online Jacobian-condition monitoring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Experiments: complete healthy-subject protocol with simulated foot-drop, then plan an IRB-approved patient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146017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114601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E6551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Yufei Zhang  ·  yz4917@columbia.edu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5488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Advisor: Prof. Sunil K. Agrawal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48640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onsolas"/>
              </a:rPr>
              <a:t>github.com/YufeiZhang0601/wearable-3rrr-ankle-rehab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