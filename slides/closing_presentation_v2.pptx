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1146017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6551F"/>
                </a:solidFill>
                <a:latin typeface="Calibri"/>
              </a:rPr>
              <a:t>AMR Research Course  ·  Closing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1460175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Design and Validation of a Wearable Ankle Rehabilitation Robot with an Anatomically Aligned 3-RRR Spherical Parallel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0"/>
            <a:ext cx="1146017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0E2A47"/>
                </a:solidFill>
                <a:latin typeface="Calibri"/>
              </a:rPr>
              <a:t>Yufei Zhang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246120"/>
            <a:ext cx="1146017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Department of Mechanical Engineering, Columbia University in the City of New York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11880"/>
            <a:ext cx="1146017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Advisor:  Prof. Sunil K. Agrawal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931920"/>
            <a:ext cx="1146017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Email:  yz4917@columbia.edu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212080"/>
            <a:ext cx="1146017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55C66"/>
                </a:solidFill>
                <a:latin typeface="Calibri"/>
              </a:rPr>
              <a:t>Source code (MIT, open-source):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532120"/>
            <a:ext cx="1146017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E2A47"/>
                </a:solidFill>
                <a:latin typeface="Consolas"/>
              </a:rPr>
              <a:t>github.com/YufeiZhang0601/wearable-3rrr-ankle-rehab</a:t>
            </a:r>
          </a:p>
        </p:txBody>
      </p:sp>
      <p:pic>
        <p:nvPicPr>
          <p:cNvPr id="12" name="Picture 11" descr="cad_l1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9855" y="2651760"/>
            <a:ext cx="2926080" cy="22603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31520"/>
            <a:ext cx="109728" cy="292608"/>
          </a:xfrm>
          <a:prstGeom prst="rect">
            <a:avLst/>
          </a:prstGeom>
          <a:solidFill>
            <a:srgbClr val="E65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722376"/>
            <a:ext cx="1146017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How the next 18 minutes are structured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11460175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1.  Motivation: clinical need &amp; gap in the state of the art</a:t>
            </a:r>
          </a:p>
          <a:p>
            <a:pPr algn="l"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2.  Mechanism: anatomically aligned 3-RRR SPM + shoe-tray foot plate</a:t>
            </a:r>
          </a:p>
          <a:p>
            <a:pPr algn="l"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3.  Kinematics: closed-form &amp; numerical inverse kinematics</a:t>
            </a:r>
          </a:p>
          <a:p>
            <a:pPr algn="l"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4.  Dynamics &amp; baseline PID; proposed Assist-As-Needed control</a:t>
            </a:r>
          </a:p>
          <a:p>
            <a:pPr algn="l"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5.  Embedded system &amp; hardware integration</a:t>
            </a:r>
          </a:p>
          <a:p>
            <a:pPr algn="l"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6.  Open-source ROS 2 / Gazebo simulation pipeline</a:t>
            </a:r>
          </a:p>
          <a:p>
            <a:pPr algn="l"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7.  Closed-loop tracking demo (recorded video)</a:t>
            </a:r>
          </a:p>
          <a:p>
            <a:pPr algn="l"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8.  Planned ablation experiments &amp; quantitative metrics</a:t>
            </a:r>
          </a:p>
          <a:p>
            <a:pPr algn="l"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9.  Honest project status &amp; invitation to extend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Yufei Zhang  ·  AMR Research Course  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565392"/>
            <a:ext cx="6400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Motivation: Clinical Need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31520"/>
            <a:ext cx="109728" cy="292608"/>
          </a:xfrm>
          <a:prstGeom prst="rect">
            <a:avLst/>
          </a:prstGeom>
          <a:solidFill>
            <a:srgbClr val="E65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722376"/>
            <a:ext cx="1146017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Why a robotic, dose-controlled ankle rehab device?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5669280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Ankle injuries (sprains, fractures, post-op) and neurological deficits (stroke, foot-drop) are very common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Standard of care is therapist-driven manual mobilization (talocrural, subtalar, tibiofibular joints)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Highly dependent on clinician experience; little quantitative dosing or trajectory tracking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222222"/>
                </a:solidFill>
                <a:latin typeface="Calibri"/>
              </a:rPr>
              <a:t>•  Robotic platforms can provide repeatability, dose control, and objective outcome metrics  →  this work</a:t>
            </a:r>
          </a:p>
        </p:txBody>
      </p:sp>
      <p:pic>
        <p:nvPicPr>
          <p:cNvPr id="8" name="Picture 7" descr="manual_thera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394960" cy="45674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6035040"/>
            <a:ext cx="53949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55C66"/>
                </a:solidFill>
                <a:latin typeface="Calibri"/>
              </a:rPr>
              <a:t>Clinical reference: manual ankle mobilization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Yufei Zhang  ·  AMR Research Course  ·  May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5855" y="6565392"/>
            <a:ext cx="6400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State of the Art &amp; the Gap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31520"/>
            <a:ext cx="109728" cy="292608"/>
          </a:xfrm>
          <a:prstGeom prst="rect">
            <a:avLst/>
          </a:prstGeom>
          <a:solidFill>
            <a:srgbClr val="E65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722376"/>
            <a:ext cx="1146017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Wearable exoskeletons vs. platform-style ankle rehab robots</a:t>
            </a:r>
          </a:p>
        </p:txBody>
      </p:sp>
      <p:pic>
        <p:nvPicPr>
          <p:cNvPr id="7" name="Picture 6" descr="lit_exoskelet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669280" cy="571066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3657600"/>
            <a:ext cx="566928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55C66"/>
                </a:solidFill>
                <a:latin typeface="Calibri"/>
              </a:rPr>
              <a:t>(a) Wearable exoskeletons – portable, often 1–2 DOF</a:t>
            </a:r>
          </a:p>
        </p:txBody>
      </p:sp>
      <p:pic>
        <p:nvPicPr>
          <p:cNvPr id="9" name="Picture 8" descr="lit_platfor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023360"/>
            <a:ext cx="5669280" cy="57113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6446520"/>
            <a:ext cx="566928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55C66"/>
                </a:solidFill>
                <a:latin typeface="Calibri"/>
              </a:rPr>
              <a:t>(b) Platform robots – multi-DOF, but stationary &amp; non-anthropomorphic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280160"/>
            <a:ext cx="5425135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Existing wearable devices: only 1–2 DOF, miss inversion / yaw motion of the ankle complex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Existing platform robots: full 3–6 DOF, but stationary, and their center of rotation does NOT coincide with the talocrural joint  →  parasitic shear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This work: target the gap — a wearable mechanism whose remote center of rotation is anatomically aligned with the human ankle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Yufei Zhang  ·  AMR Research Course  ·  May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565392"/>
            <a:ext cx="6400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Biomechanical Motivation → 3-RRR SPM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31520"/>
            <a:ext cx="109728" cy="292608"/>
          </a:xfrm>
          <a:prstGeom prst="rect">
            <a:avLst/>
          </a:prstGeom>
          <a:solidFill>
            <a:srgbClr val="E65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722376"/>
            <a:ext cx="1146017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Anatomy of the talocrural / subtalar complex matches a spherical mechanism</a:t>
            </a:r>
          </a:p>
        </p:txBody>
      </p:sp>
      <p:pic>
        <p:nvPicPr>
          <p:cNvPr id="7" name="Picture 6" descr="ankle_anatomy_3r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7772400" cy="36058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0" y="1280160"/>
            <a:ext cx="3413455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Ankle: 3 rotation axes converge near a single anatomical point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3-RRR SPM: 9 revolute joints whose axes intersect at one common spherical center O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Three pure rotations ≡ dorsi/plantarflexion, inversion/eversion, internal/external rotation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Aligning O with the talocrural complex eliminates parasitic translation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Yufei Zhang  ·  AMR Research Course  ·  May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565392"/>
            <a:ext cx="6400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Mechanism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31520"/>
            <a:ext cx="109728" cy="292608"/>
          </a:xfrm>
          <a:prstGeom prst="rect">
            <a:avLst/>
          </a:prstGeom>
          <a:solidFill>
            <a:srgbClr val="E65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722376"/>
            <a:ext cx="1146017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Wearable strap-mounted device with annotated link lengths L₁ (proximal) and L₂ (distal)</a:t>
            </a:r>
          </a:p>
        </p:txBody>
      </p:sp>
      <p:pic>
        <p:nvPicPr>
          <p:cNvPr id="7" name="Picture 6" descr="cad_l1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120640" cy="395569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035040"/>
            <a:ext cx="51206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55C66"/>
                </a:solidFill>
                <a:latin typeface="Calibri"/>
              </a:rPr>
              <a:t>CAD render with link annotation L₁ / L₂</a:t>
            </a:r>
          </a:p>
        </p:txBody>
      </p:sp>
      <p:pic>
        <p:nvPicPr>
          <p:cNvPr id="9" name="Picture 8" descr="prototype_pho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188720"/>
            <a:ext cx="3291840" cy="45468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0" y="6035040"/>
            <a:ext cx="329184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55C66"/>
                </a:solidFill>
                <a:latin typeface="Calibri"/>
              </a:rPr>
              <a:t>3D-printed prototype (assembled)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280160"/>
            <a:ext cx="2224735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Three identical RRR limbs at 120°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Open-back base ring + adjustable shank cuff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Strap-mounted, wearable form factor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All actuator axes intersect at the ankle center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3D-printed for fast design iteration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Yufei Zhang  ·  AMR Research Course  ·  May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565392"/>
            <a:ext cx="6400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Foot-Plate Innovation: Shoe-Tray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31520"/>
            <a:ext cx="109728" cy="292608"/>
          </a:xfrm>
          <a:prstGeom prst="rect">
            <a:avLst/>
          </a:prstGeom>
          <a:solidFill>
            <a:srgbClr val="E65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722376"/>
            <a:ext cx="1146017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Subject keeps their own shoes; straps fix the foot in the tray; the device drives the tray</a:t>
            </a:r>
          </a:p>
        </p:txBody>
      </p:sp>
      <p:pic>
        <p:nvPicPr>
          <p:cNvPr id="7" name="Picture 6" descr="cad_l1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4937760" cy="38144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035040"/>
            <a:ext cx="49377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55C66"/>
                </a:solidFill>
                <a:latin typeface="Calibri"/>
              </a:rPr>
              <a:t>Foot-plate (lower right): a shoe-tray that the wearable strap-mounted device drives directly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280160"/>
            <a:ext cx="597377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E2A47"/>
                </a:solidFill>
                <a:latin typeface="Calibri"/>
              </a:rPr>
              <a:t>Why a shoe tray?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691640"/>
            <a:ext cx="5973775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Survey of comparable rehab devices: rigid foot plates fit one foot size; soft sandals lose stiffness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Our choice: a tray sized for street shoes; the subject just steps in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Velcro / strap fixation across the dorsum and around the heel → firm coupling without tooling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114800"/>
            <a:ext cx="597377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E2A47"/>
                </a:solidFill>
                <a:latin typeface="Calibri"/>
              </a:rPr>
              <a:t>What this buys 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4526280"/>
            <a:ext cx="5973775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Comfort: no skin contact, normal shoe sole → longer training sessions tolerable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Generalization: one device fits a wide range of foot sizes (typically EU 36 – 46) without remanufacturing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Clinic-friendly: don/doff is a single step-in motion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Yufei Zhang  ·  AMR Research Course  ·  May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5855" y="6565392"/>
            <a:ext cx="6400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CAD Multi-View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31520"/>
            <a:ext cx="109728" cy="292608"/>
          </a:xfrm>
          <a:prstGeom prst="rect">
            <a:avLst/>
          </a:prstGeom>
          <a:solidFill>
            <a:srgbClr val="E65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722376"/>
            <a:ext cx="1146017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Three views of the wearable form factor</a:t>
            </a:r>
          </a:p>
        </p:txBody>
      </p:sp>
      <p:pic>
        <p:nvPicPr>
          <p:cNvPr id="7" name="Picture 6" descr="cad_fro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3657600" cy="28261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5486400"/>
            <a:ext cx="36576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55C66"/>
                </a:solidFill>
                <a:latin typeface="Calibri"/>
              </a:rPr>
              <a:t>(a) Front</a:t>
            </a:r>
          </a:p>
        </p:txBody>
      </p:sp>
      <p:pic>
        <p:nvPicPr>
          <p:cNvPr id="9" name="Picture 8" descr="cad_perspectiv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463040"/>
            <a:ext cx="3657600" cy="28261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97680" y="5486400"/>
            <a:ext cx="36576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55C66"/>
                </a:solidFill>
                <a:latin typeface="Calibri"/>
              </a:rPr>
              <a:t>(b) Perspective</a:t>
            </a:r>
          </a:p>
        </p:txBody>
      </p:sp>
      <p:pic>
        <p:nvPicPr>
          <p:cNvPr id="11" name="Picture 10" descr="cad_to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463040"/>
            <a:ext cx="3657600" cy="28261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29600" y="5486400"/>
            <a:ext cx="36576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55C66"/>
                </a:solidFill>
                <a:latin typeface="Calibri"/>
              </a:rPr>
              <a:t>(c) Top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Yufei Zhang  ·  AMR Research Course  ·  May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5855" y="6565392"/>
            <a:ext cx="6400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Singularity-Aware Geometry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31520"/>
            <a:ext cx="109728" cy="292608"/>
          </a:xfrm>
          <a:prstGeom prst="rect">
            <a:avLst/>
          </a:prstGeom>
          <a:solidFill>
            <a:srgbClr val="E65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722376"/>
            <a:ext cx="1146017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Link ratio ρ = L₂ / L₁ controls the rotational-Jacobian conditioning</a:t>
            </a:r>
          </a:p>
        </p:txBody>
      </p:sp>
      <p:pic>
        <p:nvPicPr>
          <p:cNvPr id="7" name="Picture 6" descr="workspace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5852160" cy="39711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5852160"/>
            <a:ext cx="58521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55C66"/>
                </a:solidFill>
                <a:latin typeface="Calibri"/>
              </a:rPr>
              <a:t>Per-leg reachable circles → their intersection is the singularity-free common workspace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371600"/>
            <a:ext cx="5242255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Type-2 singularity: det(A) → 0 → platform loses stiffness → unsafe under patient load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Following Saheb … (2021) and Wu &amp; Bai (2019), pick ρ ≈ 1.15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Result: + ~20 % global isotropy index of Jᵣ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Result: singular curves pushed to the workspace boundary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→ stiffness preserved across the clinical ROM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Yufei Zhang  ·  AMR Research Course  ·  May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5855" y="6565392"/>
            <a:ext cx="6400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Inverse Kinematics  (Algorithm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31520"/>
            <a:ext cx="109728" cy="292608"/>
          </a:xfrm>
          <a:prstGeom prst="rect">
            <a:avLst/>
          </a:prstGeom>
          <a:solidFill>
            <a:srgbClr val="E65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722376"/>
            <a:ext cx="1146017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Closed-form derivation → numerical bisection for real-time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56692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E2A47"/>
                </a:solidFill>
                <a:latin typeface="Calibri"/>
              </a:rPr>
              <a:t>Closed-form (per leg):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5669280" cy="2377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Bᵢ = Aᵢ + η (Cᵢ − Aᵢ) + ξ ‧ ((Cᵢ − Aᵢ) × N) / |·|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θᵢ = arccos( (Bᵢ − Aᵢ) · uᵢ / |Bᵢ − Aᵢ| )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Used for offline workspace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297680"/>
            <a:ext cx="56692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E2A47"/>
                </a:solidFill>
                <a:latin typeface="Calibri"/>
              </a:rPr>
              <a:t>Numerical (real-time, used in code):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709160"/>
            <a:ext cx="566928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Each leg: scalar residual fᵢ(qᵢ) = |Pᵢ − Aᵢ(qᵢ)| − Lᵢ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Coarse bracket → bisection → root-continuity rule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Dependency-free, runs in ROS 2 and on host laptop alike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280160"/>
            <a:ext cx="5425135" cy="5120640"/>
          </a:xfrm>
          <a:prstGeom prst="roundRect">
            <a:avLst/>
          </a:prstGeom>
          <a:solidFill>
            <a:srgbClr val="F1F3F6"/>
          </a:solidFill>
          <a:ln w="12700"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371600"/>
            <a:ext cx="5059375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Calibri"/>
              </a:rPr>
              <a:t>Algorithm 1  per-cycle parallel 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783080"/>
            <a:ext cx="49679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>
                <a:solidFill>
                  <a:srgbClr val="0E2A47"/>
                </a:solidFill>
                <a:latin typeface="Consolas"/>
              </a:rPr>
              <a:t>input  : (roll, pitch, yaw), prior q⁻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0E2A47"/>
                </a:solidFill>
                <a:latin typeface="Consolas"/>
              </a:rPr>
              <a:t>output : motor angles q = (q₁, q₂, q₃)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0E2A47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0E2A47"/>
                </a:solidFill>
                <a:latin typeface="Consolas"/>
              </a:rPr>
              <a:t>Rₐₑ ← Rₘ(yaw) Rᵧ(pitch) Rₓ(roll)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0E2A47"/>
                </a:solidFill>
                <a:latin typeface="Consolas"/>
              </a:rPr>
              <a:t>for each leg i in {1,2,3}: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0E2A47"/>
                </a:solidFill>
                <a:latin typeface="Consolas"/>
              </a:rPr>
              <a:t>    Pᵢ ← Rₐₑ · Pᵢᶠ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0E2A47"/>
                </a:solidFill>
                <a:latin typeface="Consolas"/>
              </a:rPr>
              <a:t>    fᵢ(q) ← |Pᵢ − Aᵢ(q)| − Lᵢ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0E2A47"/>
                </a:solidFill>
                <a:latin typeface="Consolas"/>
              </a:rPr>
              <a:t>    bracket  ← grid containing q⁻ᵢ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0E2A47"/>
                </a:solidFill>
                <a:latin typeface="Consolas"/>
              </a:rPr>
              <a:t>    qᵢ  ← bisect(fᵢ, bracket)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0E2A47"/>
                </a:solidFill>
                <a:latin typeface="Consolas"/>
              </a:rPr>
              <a:t>return 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Yufei Zhang  ·  AMR Research Course  ·  May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565392"/>
            <a:ext cx="6400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Dynamics &amp; Baseline PID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31520"/>
            <a:ext cx="109728" cy="292608"/>
          </a:xfrm>
          <a:prstGeom prst="rect">
            <a:avLst/>
          </a:prstGeom>
          <a:solidFill>
            <a:srgbClr val="E65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722376"/>
            <a:ext cx="1146017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Stiff vs. compliant tuning brackets the AAN operating range</a:t>
            </a:r>
          </a:p>
        </p:txBody>
      </p:sp>
      <p:pic>
        <p:nvPicPr>
          <p:cNvPr id="7" name="Picture 6" descr="underdamped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486400" cy="48424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3657600"/>
            <a:ext cx="54864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55C66"/>
                </a:solidFill>
                <a:latin typeface="Calibri"/>
              </a:rPr>
              <a:t>Underdamped: Kp = 20, Kd = 0.5, Ki = 1  →  soft, oscillatory</a:t>
            </a:r>
          </a:p>
        </p:txBody>
      </p:sp>
      <p:pic>
        <p:nvPicPr>
          <p:cNvPr id="9" name="Picture 8" descr="critical_respo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5486400" cy="48883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26480" y="3657600"/>
            <a:ext cx="54864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55C66"/>
                </a:solidFill>
                <a:latin typeface="Calibri"/>
              </a:rPr>
              <a:t>Critically damped: Kp = 50, Kd = 2, Ki = 5  →  stiff, monotonic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114800"/>
            <a:ext cx="11460175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Three independent PID loops on the actuator angles θᵢ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Even on a rigid SPM, feedback gains modulate effective compliance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 These two regimes bracket the spectrum that the AAN controller interpolates online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Yufei Zhang  ·  AMR Research Course  ·  May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565392"/>
            <a:ext cx="6400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Assist-As-Needed Control  (proposed)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31520"/>
            <a:ext cx="109728" cy="292608"/>
          </a:xfrm>
          <a:prstGeom prst="rect">
            <a:avLst/>
          </a:prstGeom>
          <a:solidFill>
            <a:srgbClr val="E65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722376"/>
            <a:ext cx="1146017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Patient-torque estimation from motor current, no distal F/T sensor required</a:t>
            </a:r>
          </a:p>
        </p:txBody>
      </p:sp>
      <p:pic>
        <p:nvPicPr>
          <p:cNvPr id="7" name="Picture 6" descr="aa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7315200" cy="400560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5120640"/>
            <a:ext cx="731520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55C66"/>
                </a:solidFill>
                <a:latin typeface="Calibri"/>
              </a:rPr>
              <a:t>AAN architecture (top: gait-phase + asymmetry; bottom: low-level force tracking)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280160"/>
            <a:ext cx="3962095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Estimator:  τ_ext ≈ K_t · I_m − τ_model(q, q̇, q̈_ref)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Assist law:  τ_assist = k_aan(t,e) · [τ_ref − τ_ext]₊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Adaptive gain k_aan grows with tracking error, decays with successful tracking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Removes need for distal load cell; uses Dynamixel current feedback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Listed as a planned/proposed contribution — not yet deployed on hardware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Yufei Zhang  ·  AMR Research Course  ·  May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5855" y="6565392"/>
            <a:ext cx="6400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Embedded System &amp; Hardware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31520"/>
            <a:ext cx="109728" cy="292608"/>
          </a:xfrm>
          <a:prstGeom prst="rect">
            <a:avLst/>
          </a:prstGeom>
          <a:solidFill>
            <a:srgbClr val="E65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722376"/>
            <a:ext cx="1146017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Teensy 4.1 master · RS-485 bus · dual IMU · instrumented gait mat</a:t>
            </a:r>
          </a:p>
        </p:txBody>
      </p:sp>
      <p:pic>
        <p:nvPicPr>
          <p:cNvPr id="7" name="Picture 6" descr="electronics_bread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4023360" cy="5364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5349240"/>
            <a:ext cx="40233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55C66"/>
                </a:solidFill>
                <a:latin typeface="Calibri"/>
              </a:rPr>
              <a:t>Prototype electronics stack: Teensy 4.1 + IMU + RS-485 transceiver</a:t>
            </a:r>
          </a:p>
        </p:txBody>
      </p:sp>
      <p:pic>
        <p:nvPicPr>
          <p:cNvPr id="9" name="Picture 8" descr="hardware_wiring_diagr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80160"/>
            <a:ext cx="4023360" cy="3017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0" y="5349240"/>
            <a:ext cx="40233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55C66"/>
                </a:solidFill>
                <a:latin typeface="Calibri"/>
              </a:rPr>
              <a:t>Servo control wiring: Dynamixel + U2D2 + power supply + host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1280160"/>
            <a:ext cx="3047695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1 kHz control loop on Teensy 4.1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RS-485 daisy chain: 3 × XM430-W350-R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Position-control mode + current telemetry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Encoder resolution 0.088° / tick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Dual IMU (shank + foot) for absolute reference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Gait mat for stance time, plantar pressure, CoP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Yufei Zhang  ·  AMR Research Course  ·  May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565392"/>
            <a:ext cx="6400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Open-Source ROS 2 / Gazebo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31520"/>
            <a:ext cx="109728" cy="292608"/>
          </a:xfrm>
          <a:prstGeom prst="rect">
            <a:avLst/>
          </a:prstGeom>
          <a:solidFill>
            <a:srgbClr val="E65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722376"/>
            <a:ext cx="1146017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From CAD to closed-loop simulation in three lines</a:t>
            </a:r>
          </a:p>
        </p:txBody>
      </p:sp>
      <p:pic>
        <p:nvPicPr>
          <p:cNvPr id="7" name="Picture 6" descr="gazebo_force_torq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6766560" cy="46718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5486400"/>
            <a:ext cx="67665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55C66"/>
                </a:solidFill>
                <a:latin typeface="Calibri"/>
              </a:rPr>
              <a:t>Gazebo URDF smoke test: 101 Nm pure torque applied to the proximal 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280160"/>
            <a:ext cx="451073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Calibri"/>
              </a:rPr>
              <a:t>Repository (MIT licensed):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691640"/>
            <a:ext cx="451073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0E2A47"/>
                </a:solidFill>
                <a:latin typeface="Consolas"/>
              </a:rPr>
              <a:t>github.com/YufeiZhang0601/wearable-3rrr-ankle-rehab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286000"/>
            <a:ext cx="4510735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ROS 2 ament_python package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URDF + Xacro, 22 STL meshes, 4 launch files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Parallel-IK solver — one shared kinematic core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Gazebo verification: sweep force/torque grid → no NaN inertias, no mesh interpenetration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Dependency-free closed-loop demo (Python stdlib only)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JSON parameter templates → swap hardware without touching 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Yufei Zhang  ·  AMR Research Course  ·  May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565392"/>
            <a:ext cx="6400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Closed-Loop Tracking Demo  (Algorithm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31520"/>
            <a:ext cx="109728" cy="292608"/>
          </a:xfrm>
          <a:prstGeom prst="rect">
            <a:avLst/>
          </a:prstGeom>
          <a:solidFill>
            <a:srgbClr val="E65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722376"/>
            <a:ext cx="1146017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Reproduces the IK + safety supervisor against the URDF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80160"/>
            <a:ext cx="6949440" cy="4937760"/>
          </a:xfrm>
          <a:prstGeom prst="roundRect">
            <a:avLst/>
          </a:prstGeom>
          <a:solidFill>
            <a:srgbClr val="F1F3F6"/>
          </a:solidFill>
          <a:ln w="12700">
            <a:solidFill>
              <a:srgbClr val="0E2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65836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0E2A47"/>
                </a:solidFill>
                <a:latin typeface="Calibri"/>
              </a:rPr>
              <a:t>Algorithm 2  closed-loop ankle-rehab tracking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6492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>
                <a:solidFill>
                  <a:srgbClr val="0E2A47"/>
                </a:solidFill>
                <a:latin typeface="Consolas"/>
              </a:rPr>
              <a:t>parse URDF; pick (j₁, j₄, j₆) as the three Dynamixel actuators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0E2A47"/>
                </a:solidFill>
                <a:latin typeface="Consolas"/>
              </a:rPr>
              <a:t>q ← 0;  t ← 0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0E2A47"/>
                </a:solidFill>
                <a:latin typeface="Consolas"/>
              </a:rPr>
              <a:t>while running: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0E2A47"/>
                </a:solidFill>
                <a:latin typeface="Consolas"/>
              </a:rPr>
              <a:t>    σ(t)  ← min(t / Tsoft, 1)            # soft start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0E2A47"/>
                </a:solidFill>
                <a:latin typeface="Consolas"/>
              </a:rPr>
              <a:t>    pitch ← σ(t) · A_p sin(2π f t)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0E2A47"/>
                </a:solidFill>
                <a:latin typeface="Consolas"/>
              </a:rPr>
              <a:t>    roll  ← σ(t) · A_r sin(2π f t)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0E2A47"/>
                </a:solidFill>
                <a:latin typeface="Consolas"/>
              </a:rPr>
              <a:t>    q_ref ← ParallelIK(roll, pitch, 0)        # Algo 1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0E2A47"/>
                </a:solidFill>
                <a:latin typeface="Consolas"/>
              </a:rPr>
              <a:t>    Δq    ← clamp(q_ref − q,  q̇_max · Δt)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0E2A47"/>
                </a:solidFill>
                <a:latin typeface="Consolas"/>
              </a:rPr>
              <a:t>    τ    ← clamp(controller(Δq),  τ_max)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0E2A47"/>
                </a:solidFill>
                <a:latin typeface="Consolas"/>
              </a:rPr>
              <a:t>    q     ← q + Δq                     # virtual actuator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0E2A47"/>
                </a:solidFill>
                <a:latin typeface="Consolas"/>
              </a:rPr>
              <a:t>    log(t, q_ref, q, τ, ToTicks(q))           # CSV row</a:t>
            </a:r>
          </a:p>
          <a:p>
            <a:pPr algn="l">
              <a:spcAft>
                <a:spcPts val="200"/>
              </a:spcAft>
            </a:pPr>
            <a:r>
              <a:rPr sz="1300">
                <a:solidFill>
                  <a:srgbClr val="0E2A47"/>
                </a:solidFill>
                <a:latin typeface="Consolas"/>
              </a:rPr>
              <a:t>    t     ← t + Δt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463040"/>
            <a:ext cx="4144975" cy="457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Reference: ± 12° dorsi/plantar, ± 6° invert/evert, 0.05 Hz, 3 s ramp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Safety caps: τ ≤ 1.2 Nm,  q̇ ≤ 0.8 rad/s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Logs commanded vs. measured q, residual error, Dynamixel ticks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Recorded video shipped in the repo: media/closed_loop_demo.mp4 (≈25 MB)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Yufei Zhang  ·  AMR Research Course  ·  May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85855" y="6565392"/>
            <a:ext cx="6400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Planned Experiments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31520"/>
            <a:ext cx="109728" cy="292608"/>
          </a:xfrm>
          <a:prstGeom prst="rect">
            <a:avLst/>
          </a:prstGeom>
          <a:solidFill>
            <a:srgbClr val="E65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722376"/>
            <a:ext cx="1146017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Quantitative metrics + simulated foot-drop protocol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E2A47"/>
                </a:solidFill>
                <a:latin typeface="Calibri"/>
              </a:rPr>
              <a:t>Quantitative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548640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Limb Symmetry Index (LSI) — north-star clinical metric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Jerk = d³x/dt³ from foot-plate IMU (smoothness)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Interaction torque τ_int (sensorless estimator, eq. 16)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Center of pressure (CoP) trajectory from gait mat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Human-contribution ratio  η_h = τ_ext / (τ_ext + τ_assist)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280160"/>
            <a:ext cx="52120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E2A47"/>
                </a:solidFill>
                <a:latin typeface="Calibri"/>
              </a:rPr>
              <a:t>Four sub-experiments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691640"/>
            <a:ext cx="521208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E1  Simulated-impairment recovery (controlled foot-drop)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E2  Transparency evaluation (R² ≥ 0.95 vs. barefoot)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E3  Active participation under AAN (η_h trend over sessions)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E4  Passive transfer effect after CPM bout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572000"/>
            <a:ext cx="1146017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>
                <a:solidFill>
                  <a:srgbClr val="0E2A47"/>
                </a:solidFill>
                <a:latin typeface="Calibri"/>
              </a:rPr>
              <a:t>Statistics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983480"/>
            <a:ext cx="11460175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Within-subject paired t-tests (or Wilcoxon if non-normal); Bonferroni-Holm correction at the experiment level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Across-session trends: linear mixed-effects model with subject as a random effect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Bootstrap 95 % CIs (n = 10 000)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Yufei Zhang  ·  AMR Research Course  ·  May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5855" y="6565392"/>
            <a:ext cx="6400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Implementation Status — Honest Snapshot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31520"/>
            <a:ext cx="109728" cy="292608"/>
          </a:xfrm>
          <a:prstGeom prst="rect">
            <a:avLst/>
          </a:prstGeom>
          <a:solidFill>
            <a:srgbClr val="E65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722376"/>
            <a:ext cx="1146017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Three concrete deliverables; two open items left for the next phase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325880"/>
          <a:ext cx="11460175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040"/>
                <a:gridCol w="1371600"/>
                <a:gridCol w="4053535"/>
              </a:tblGrid>
              <a:tr h="41148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Outcome / Notes</a:t>
                      </a:r>
                    </a:p>
                  </a:txBody>
                  <a:tcPr>
                    <a:solidFill>
                      <a:srgbClr val="0E2A4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Wearable 3-RRR mechanism (link ratio ρ≈ 1.15)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2A47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+ ~20 % isotropy index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Shoe-tray foot-plate design (size-generalizing, comfortable)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2A47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Subject keeps own shoes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Closed-form &amp; numerical inverse kinematics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2A47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Algorithm 1, in repo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Open-source simulation controller (ROS 2 + Gazebo)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2A47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MIT-licensed release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Closed-loop tracking demo against the URDF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2A47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Algorithm 2 + recorded video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Embedded electronics stack (Teensy + RS-485 + IMU)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2A47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Bench-tested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Ablation experiments + quantitative metrics designed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E2A47"/>
                          </a:solidFill>
                          <a:latin typeface="Calibri"/>
                        </a:rP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LSI / jerk / τ_int / CoP / η_h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AAN control law formulated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55C66"/>
                          </a:solidFill>
                          <a:latin typeface="Calibri"/>
                        </a:rPr>
                        <a:t>Proposed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Eq. (16) – (18); pending HW deploy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Standalone untethered operation (battery, free walking)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6551F"/>
                          </a:solidFill>
                          <a:latin typeface="Calibri"/>
                        </a:rPr>
                        <a:t>Not yet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Next milestone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Human-subject experiments (E1–E4)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E6551F"/>
                          </a:solidFill>
                          <a:latin typeface="Calibri"/>
                        </a:rPr>
                        <a:t>Not yet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Calibri"/>
                        </a:rPr>
                        <a:t>Platform built; subjects pending</a:t>
                      </a:r>
                    </a:p>
                  </a:txBody>
                  <a:tcPr>
                    <a:solidFill>
                      <a:srgbClr val="F1F3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Yufei Zhang  ·  AMR Research Course  ·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565392"/>
            <a:ext cx="6400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1460175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Conclusion &amp; Open Invitation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731520"/>
            <a:ext cx="109728" cy="292608"/>
          </a:xfrm>
          <a:prstGeom prst="rect">
            <a:avLst/>
          </a:prstGeom>
          <a:solidFill>
            <a:srgbClr val="E655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722376"/>
            <a:ext cx="11460175" cy="31089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C66"/>
                </a:solidFill>
                <a:latin typeface="Calibri"/>
              </a:rPr>
              <a:t>What this project leaves on the table for the next student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88720"/>
            <a:ext cx="1146017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0E2A47"/>
                </a:solidFill>
                <a:latin typeface="Calibri"/>
              </a:rPr>
              <a:t>Delivered (turn-key)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11460175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Wearable, anatomically-aligned 3-RRR SPM with the shoe-tray foot plate that fits a wide range of foot sizes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Closed-form + numerical IK that maps (roll, pitch, yaw) to motor angles in real time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MIT-licensed ROS 2 / Gazebo simulation controller, verified end-to-end against the URDF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Ablation-experiment design and a full set of quantitative rehab metrics (LSI, jerk, τ_int, CoP, η_h)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749039"/>
            <a:ext cx="1146017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>
                <a:solidFill>
                  <a:srgbClr val="E6551F"/>
                </a:solidFill>
                <a:latin typeface="Calibri"/>
              </a:rPr>
              <a:t>Open for the next phase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160520"/>
            <a:ext cx="11460175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Standalone untethered operation: battery, free wearable walking on the gait mat</a:t>
            </a:r>
          </a:p>
          <a:p>
            <a:pPr algn="l">
              <a:spcAft>
                <a:spcPts val="4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Subject experiments E1–E4: healthy-subject simulated foot-drop → IRB-approved patient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5715000"/>
            <a:ext cx="11460175" cy="777240"/>
          </a:xfrm>
          <a:prstGeom prst="roundRect">
            <a:avLst/>
          </a:prstGeom>
          <a:solidFill>
            <a:srgbClr val="F1F3F6"/>
          </a:solidFill>
          <a:ln w="12700">
            <a:solidFill>
              <a:srgbClr val="E655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806440"/>
            <a:ext cx="10911535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E6551F"/>
                </a:solidFill>
                <a:latin typeface="Calibri"/>
              </a:rPr>
              <a:t>An open invitation to future students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099048"/>
            <a:ext cx="10911535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555C66"/>
                </a:solidFill>
                <a:latin typeface="Calibri"/>
              </a:rPr>
              <a:t>The simulation codebase, the wearable hardware design, and the experimental protocol together form a turn-key starting point. Pull the repo, plug in your own subject trials, and the project picks up exactly where this report leaves off.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65392"/>
            <a:ext cx="731520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C66"/>
                </a:solidFill>
                <a:latin typeface="Calibri"/>
              </a:rPr>
              <a:t>Yufei Zhang  ·  AMR Research Course  ·  May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565392"/>
            <a:ext cx="6400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C66"/>
                </a:solidFill>
                <a:latin typeface="Calibri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377440"/>
            <a:ext cx="11460175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Thank you.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383280"/>
            <a:ext cx="11460175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200" b="0">
                <a:solidFill>
                  <a:srgbClr val="E6551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389120"/>
            <a:ext cx="1146017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Yufei Zhang  ·  yz4917@columbia.edu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754880"/>
            <a:ext cx="1146017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Advisor: Prof. Sunil K. Agrawal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5486400"/>
            <a:ext cx="1146017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onsolas"/>
              </a:rPr>
              <a:t>github.com/YufeiZhang0601/wearable-3rrr-ankle-rehab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